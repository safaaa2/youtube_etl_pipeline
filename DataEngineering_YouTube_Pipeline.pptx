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Vues (Md)</c:v>
                </c:pt>
              </c:strCache>
            </c:strRef>
          </c:tx>
          <c:spPr>
            <a:solidFill>
              <a:srgbClr val="E8232A"/>
            </a:solidFill>
            <a:ln w="31750" cap="flat">
              <a:solidFill>
                <a:srgbClr val="E823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232A"/>
              </a:solidFill>
              <a:ln w="9525" cap="flat">
                <a:solidFill>
                  <a:srgbClr val="E823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</c:v>
                </c:pt>
                <c:pt idx="1">
                  <c:v>0.5</c:v>
                </c:pt>
                <c:pt idx="2">
                  <c:v>1.2</c:v>
                </c:pt>
                <c:pt idx="3">
                  <c:v>2.8</c:v>
                </c:pt>
                <c:pt idx="4">
                  <c:v>5</c:v>
                </c:pt>
                <c:pt idx="5">
                  <c:v>8.5</c:v>
                </c:pt>
                <c:pt idx="6">
                  <c:v>13</c:v>
                </c:pt>
                <c:pt idx="7">
                  <c:v>18</c:v>
                </c:pt>
                <c:pt idx="8">
                  <c:v>22</c:v>
                </c:pt>
                <c:pt idx="9">
                  <c:v>19</c:v>
                </c:pt>
                <c:pt idx="10">
                  <c:v>17</c:v>
                </c:pt>
                <c:pt idx="11">
                  <c:v>15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Vues (M)</c:v>
                </c:pt>
              </c:strCache>
            </c:strRef>
          </c:tx>
          <c:spPr>
            <a:solidFill>
              <a:srgbClr val="E823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"Beast" Channel</c:v>
                  </c:pt>
                  <c:pt idx="1">
                    <c:v>#1 MOST INSANE</c:v>
                  </c:pt>
                  <c:pt idx="2">
                    <c:v>$1 or Mystery</c:v>
                  </c:pt>
                  <c:pt idx="3">
                    <c:v>$1 = One Year...</c:v>
                  </c:pt>
                  <c:pt idx="4">
                    <c:v>$1 vs $1,000,000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30</c:v>
                </c:pt>
                <c:pt idx="2">
                  <c:v>40</c:v>
                </c:pt>
                <c:pt idx="3">
                  <c:v>150</c:v>
                </c:pt>
                <c:pt idx="4">
                  <c:v>430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822960"/>
            <a:ext cx="1280160" cy="1280160"/>
          </a:xfrm>
          <a:prstGeom prst="ellipse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DATA 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YouTube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23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v3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· Transform · Load · Visualize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0" y="1005840"/>
            <a:ext cx="27432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1005840"/>
            <a:ext cx="64008" cy="1097280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57232" y="1325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2359152"/>
            <a:ext cx="27432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2359152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2450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857232" y="26791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ETL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0" y="3712464"/>
            <a:ext cx="27432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3712464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80390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57232" y="40325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structuré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0" y="5065776"/>
            <a:ext cx="27432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5065776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51572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857232" y="538581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BI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MrBeast · @UCX6OQ3DkcsbYNE6H8uQQuVA · Mai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 — YouTube API v3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 &amp; Objectifs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54864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89888"/>
            <a:ext cx="64008" cy="640080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43560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entreprises modernes exploitent des API publiques pour automatiser la collecte et la transformation de données.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39696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39696"/>
            <a:ext cx="64008" cy="640080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18541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simule un pipeline industriel de type ETL en récupérant les données de la chaîne MrBeast via l'API YouTube Data v3.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89504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89504"/>
            <a:ext cx="64008" cy="640080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3522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final est de produire un dataset analytique exploitable dans un outil BI (Power BI).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822960"/>
            <a:ext cx="57607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822960"/>
            <a:ext cx="576072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pédagogiques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0760" y="1389888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389888"/>
            <a:ext cx="2743200" cy="73152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5910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15544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Interroger une API REST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06840" y="1389888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06840" y="1389888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15910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0" y="15544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pagination &amp; quotas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4688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468880"/>
            <a:ext cx="2743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6700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75120" y="2633472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stockage brut (JSON)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06840" y="24688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06840" y="2468880"/>
            <a:ext cx="27432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8280" y="26700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01200" y="2633472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les credentials (.env)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0760" y="3547872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80760" y="3547872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75120" y="371246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transformation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06840" y="3547872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006840" y="3547872"/>
            <a:ext cx="27432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9828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01200" y="371246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propre &amp; structuré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6291072"/>
            <a:ext cx="115214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6291072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:  YouTube API  →  Ingestion Python  →  Stockage JSON  →  Transformation  →  Dataset CSV  →  Power BI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 — YouTube API v3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Environnement &amp; Configuration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22960"/>
            <a:ext cx="36576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Python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1719072"/>
            <a:ext cx="3291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8745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18288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3.10+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441448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3957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virtualenv / venv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008376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96265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requests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575304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52958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python-dotenv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142232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09651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82296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1960" y="822960"/>
            <a:ext cx="36576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1005840"/>
            <a:ext cx="54864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434840" y="1719072"/>
            <a:ext cx="3291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1874520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18288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/project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441448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23957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/data (raw, clean)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34840" y="3008376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296265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/src (scripts)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575304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352958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.env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34840" y="4142232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90872" y="409651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requirements.txt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183880" y="82296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83880" y="822960"/>
            <a:ext cx="3657600" cy="91440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21040" y="1005840"/>
            <a:ext cx="548640" cy="548640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6112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366760" y="1719072"/>
            <a:ext cx="3291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66760" y="1874520"/>
            <a:ext cx="164592" cy="164592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22792" y="18288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Créer un projet GCP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366760" y="2441448"/>
            <a:ext cx="164592" cy="164592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22792" y="23957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Activer YouTube Data API v3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366760" y="3008376"/>
            <a:ext cx="164592" cy="164592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22792" y="296265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 → Clé API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366760" y="3575304"/>
            <a:ext cx="164592" cy="164592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22792" y="352958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Quota: 10 000 unités/jour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66760" y="4142232"/>
            <a:ext cx="164592" cy="164592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22792" y="409651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requête = 1 à 100 unités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0040" y="6309360"/>
            <a:ext cx="115214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6309360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Sécurité :  Ne jamais commiter la clé API dans Git — utiliser .env + .gitignore. Charger avec os.getenv('YOUTUBE_API_KEY').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 — YouTube API v3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Extraction — Architecture Logique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hiérarchique YouTube + Endpoints utilisés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25880"/>
            <a:ext cx="2743200" cy="109728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508760"/>
            <a:ext cx="640080" cy="640080"/>
          </a:xfrm>
          <a:prstGeom prst="ellipse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MrBeast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090672"/>
            <a:ext cx="2286000" cy="384048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906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channels.list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3063240"/>
            <a:ext cx="201168" cy="0"/>
          </a:xfrm>
          <a:prstGeom prst="line">
            <a:avLst/>
          </a:prstGeom>
          <a:noFill/>
          <a:ln w="25400">
            <a:solidFill>
              <a:srgbClr val="E82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2880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232A"/>
                </a:solidFill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64408" y="1325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1325880"/>
            <a:ext cx="27432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15968" y="15087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968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55848" y="2286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55848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playlist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93008" y="3090672"/>
            <a:ext cx="22860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0906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playlists.list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07608" y="306324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880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08776" y="1325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08776" y="1325880"/>
            <a:ext cx="27432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0336" y="150876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0216" y="2286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IDs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00216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 vidéos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37376" y="3090672"/>
            <a:ext cx="22860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30906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playlistItems.list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951976" y="3063240"/>
            <a:ext cx="20116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16568" y="2880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153144" y="1325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53144" y="1325880"/>
            <a:ext cx="27432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04704" y="150876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04704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244584" y="2286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DETAILS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244584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complètes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381744" y="3090672"/>
            <a:ext cx="22860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81744" y="30906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videos.list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4983480"/>
            <a:ext cx="5532120" cy="1691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la Pagination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75488" y="555955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5522976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requête retourne max. 50 résultats.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" y="581558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577900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fournit un nextPageToken dans la réponse.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5488" y="6071616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603504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Boucler jusqu'à ce que le token soit absent.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" y="632764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" y="629107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Agréger les IDs vidéo dans une liste Python.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035040" y="4983480"/>
            <a:ext cx="5806440" cy="16916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5074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par lots (Batching)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190488" y="555955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0" y="552297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L'endpoint videos.list accepte max. 50 IDs par requête.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90488" y="581558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57790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la liste de Video IDs en chunks de 50.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190488" y="607161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60350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Effectuer une requête par chunk.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190488" y="632764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Concaténer les résultats en une seule liste.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 — YouTube API v3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Code Python — Extraction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55778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55778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extract_video_ids.py  — pagination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5577840" cy="54864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61872"/>
            <a:ext cx="5440680" cy="5349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requests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= os.getenv('YOUTUBE_API_KEY')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PLAYLIST_ID = 'UUX6OQ3DkcsbYNE6H8uQQuVA'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get_video_ids(playlist_id):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ids, token = [], None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requests.get(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'https://www.googleapis.com/youtube/v3/playlistItems',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params={'part':'contentDetails',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'playlistId': playlist_id,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'maxResults': 50,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'pageToken': token,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'key': API_KEY})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r.json()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item in data['items']: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ids.append(item['contentDetails']['videoId'])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token = data.get('nextPageToken')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token: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ids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172200" y="804672"/>
            <a:ext cx="56692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804672"/>
            <a:ext cx="566928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extract_video_details.py  — batching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5669280" cy="54864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261872"/>
            <a:ext cx="5532120" cy="5349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get_video_details(video_ids):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all_videos = []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Chunks de 50 IDs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chunks = [video_ids[i:i+50]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for i in range(0,len(video_ids),50)]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chunk in chunks: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requests.get(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'https://www.googleapis.com/youtube/v3/videos',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params={'part': 'snippet,statistics,contentDetails',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'id': ','.join(chunk),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'key': API_KEY})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r.json()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v in data['items']: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all_videos.append({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'video_id':   v['id'],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'title':      v['snippet']['title'],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'published':  v['snippet']['publishedAt'],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'duration':   v['contentDetails']['duration'],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'views':      v['statistics'].get('viewCount',0),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'likes':      v['statistics'].get('likeCount',0),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'comments':   v['statistics'].get('commentCount',0),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all_videos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 — YouTube API v3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Transformation &amp;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transformation des données brutes → dataset analytique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2743200" cy="91440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463040"/>
            <a:ext cx="640080" cy="640080"/>
          </a:xfrm>
          <a:prstGeom prst="ellipse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2212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brut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depuis l'API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(durées ISO 8601,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UTC, strings)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44952" y="26060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232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64408" y="1298448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298448"/>
            <a:ext cx="274320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146304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55848" y="2212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01568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champs vides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types numériques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valeurs nulles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26060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08776" y="1298448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1298448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0336" y="14630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0216" y="2212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45936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ISO 8601 → sec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→ datetime pandas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= likes/views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33688" y="26060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153144" y="1298448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53144" y="1298448"/>
            <a:ext cx="27432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04704" y="146304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04704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44584" y="2212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 CSV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90304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structurées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cohérents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Power BI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370832"/>
            <a:ext cx="55778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370832"/>
            <a:ext cx="55778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transform.py  — normalisation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718304"/>
            <a:ext cx="557784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isodate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pd.DataFrame(raw_videos)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Conversion durée ISO 8601 → secondes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df['duration_sec'] = df['duration'].apply(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x: int(isodate.parse_duration(x).total_seconds()))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Cast métriques en entiers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['views','likes','comments']: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df[col] = pd.to_numeric(df[col], errors='coerce').fillna(0).astype(int)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Taux d'engagement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df['engagement_rate'] = df['likes'] / df['views'].replace(0,1)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Parse date de publication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df['published_at'] = pd.to_datetime(df['published'])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df['year'] = df['published_at'].dt.year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Sauvegarde 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df.to_csv('data/clean/mrbeast_videos.csv', index=False)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80760" y="4370832"/>
            <a:ext cx="57607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4370832"/>
            <a:ext cx="57607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du dataset analytique final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80760" y="4718304"/>
            <a:ext cx="1828800" cy="201168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471830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909560" y="4718304"/>
            <a:ext cx="1005840" cy="201168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0" y="4718304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915400" y="4718304"/>
            <a:ext cx="2834640" cy="201168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0" y="47183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80760" y="4919472"/>
            <a:ext cx="18288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491947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video_id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909560" y="4919472"/>
            <a:ext cx="10058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55280" y="491947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915400" y="4919472"/>
            <a:ext cx="28346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61120" y="491947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unique YouTube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080760" y="5120640"/>
            <a:ext cx="182880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51206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909560" y="5120640"/>
            <a:ext cx="10058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55280" y="512064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915400" y="5120640"/>
            <a:ext cx="28346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61120" y="512064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de la vidéo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080760" y="5321808"/>
            <a:ext cx="18288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532180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published_at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909560" y="5321808"/>
            <a:ext cx="10058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55280" y="532180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915400" y="5321808"/>
            <a:ext cx="28346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61120" y="532180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et heure de publication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080760" y="5522976"/>
            <a:ext cx="182880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26480" y="5522976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909560" y="5522976"/>
            <a:ext cx="10058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55280" y="552297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915400" y="5522976"/>
            <a:ext cx="28346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61120" y="55229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extraite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080760" y="5724144"/>
            <a:ext cx="18288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26480" y="572414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duration_sec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909560" y="5724144"/>
            <a:ext cx="10058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55280" y="5724144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8915400" y="5724144"/>
            <a:ext cx="28346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961120" y="572414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en secondes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080760" y="5925312"/>
            <a:ext cx="182880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26480" y="592531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view_count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909560" y="5925312"/>
            <a:ext cx="10058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955280" y="59253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915400" y="5925312"/>
            <a:ext cx="28346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61120" y="592531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total de vues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080760" y="6126480"/>
            <a:ext cx="18288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26480" y="612648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like_count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909560" y="6126480"/>
            <a:ext cx="10058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955280" y="612648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915400" y="6126480"/>
            <a:ext cx="28346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61120" y="612648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likes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080760" y="6327648"/>
            <a:ext cx="182880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26480" y="632764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comment_count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909560" y="6327648"/>
            <a:ext cx="10058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955280" y="632764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8915400" y="6327648"/>
            <a:ext cx="28346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961120" y="632764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commentaires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6080760" y="6528816"/>
            <a:ext cx="18288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26480" y="6528816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engagement_rate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909560" y="6528816"/>
            <a:ext cx="10058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955280" y="652881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8915400" y="6528816"/>
            <a:ext cx="28346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961120" y="65288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/ vues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 — YouTube API v3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Résultats &amp; Power BI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extraites — Chaîne MrBeast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3657600" cy="91440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356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" y="1956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collectées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1956816"/>
            <a:ext cx="804672" cy="292608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956816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2009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51960" y="1298448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51960" y="1298448"/>
            <a:ext cx="36576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4356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119 Md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34840" y="1956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totales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1956816"/>
            <a:ext cx="80467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956816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cumulées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183880" y="1298448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3880" y="1298448"/>
            <a:ext cx="36576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14356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Md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366760" y="1956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totaux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927080" y="1956816"/>
            <a:ext cx="80467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27080" y="1956816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dataset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560320"/>
            <a:ext cx="365760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697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8,4%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02920" y="3218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moyen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63240" y="3218688"/>
            <a:ext cx="804672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3240" y="321868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/ vues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25196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51960" y="2560320"/>
            <a:ext cx="36576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2697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 min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434840" y="3218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moy. vidéo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95160" y="3218688"/>
            <a:ext cx="80467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321868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long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18388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83880" y="2560320"/>
            <a:ext cx="36576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2697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1,4/sem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8366760" y="3218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de post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927080" y="3218688"/>
            <a:ext cx="804672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27080" y="321868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0040" y="38587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des vues par année (Milliards)</a:t>
            </a:r>
            <a:endParaRPr lang="en-US" sz="120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320040" y="4187952"/>
          <a:ext cx="57607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6217920" y="385876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vidéos — vues (Millions)</a:t>
            </a:r>
            <a:endParaRPr lang="en-US" sz="1200" dirty="0"/>
          </a:p>
        </p:txBody>
      </p:sp>
      <p:graphicFrame>
        <p:nvGraphicFramePr>
          <p:cNvPr id="48" name="Chart 1" descr=""/>
          <p:cNvGraphicFramePr/>
          <p:nvPr/>
        </p:nvGraphicFramePr>
        <p:xfrm>
          <a:off x="6217920" y="4187952"/>
          <a:ext cx="56235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 — YouTube API v3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1645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Dashboard Power BI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analytique — étapes d'intégration Power BI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2743200" cy="91440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463040"/>
            <a:ext cx="640080" cy="640080"/>
          </a:xfrm>
          <a:prstGeom prst="ellipse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2212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6700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les données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Texte/CSV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mrbeast_videos.csv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44952" y="2542032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232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64408" y="1298448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298448"/>
            <a:ext cx="274320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146304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55848" y="2212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01568" y="26700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types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doublons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champs inutiles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2542032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08776" y="1298448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1298448"/>
            <a:ext cx="27432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0336" y="146304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0216" y="2212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45936" y="26700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colonnes calculées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: engagement_rate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entre tables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33688" y="2542032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153144" y="1298448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53144" y="1298448"/>
            <a:ext cx="27432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04704" y="146304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04704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44584" y="2212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90304" y="26700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de vues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top vidéos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par année/type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114800"/>
            <a:ext cx="115214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114800"/>
            <a:ext cx="11521440" cy="3657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 recommandées dans le dashboard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461772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61772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" y="4663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33272" y="46725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des vues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33272" y="50566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en courbe par année/mois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51960" y="461772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51960" y="461772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6552" y="4663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965192" y="46725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vidéos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65192" y="50566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trié par vues desc.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83880" y="461772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83880" y="461772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48472" y="4663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897112" y="46725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d'engagement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897112" y="50566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KPI + jauge dynamique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562356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562356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" y="5669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🥧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033272" y="56784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type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33272" y="60624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: video / short / podcast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251960" y="562356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51960" y="562356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16552" y="5669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4965192" y="56784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de publication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965192" y="60624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Histogramme par semaine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183880" y="562356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83880" y="562356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48472" y="5669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8897112" y="56784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moy. par format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897112" y="60624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Barres : podcast &gt; video &gt; short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COMPÉTENCES ACQUISES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Data Engineering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23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 &amp; fonctionnel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54864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23160"/>
            <a:ext cx="64008" cy="1572768"/>
          </a:xfrm>
          <a:prstGeom prst="rect">
            <a:avLst/>
          </a:prstGeom>
          <a:solidFill>
            <a:srgbClr val="E82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23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&amp; JSON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HTTP, pagination, gestion des quotas API YouTube Data v3.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2423160"/>
            <a:ext cx="54864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423160"/>
            <a:ext cx="64008" cy="1572768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credentials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42900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.env, chargement via python-dotenv, bonnes pratiques CI/CD.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54864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251960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48463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isodate, structuration DataFrame, export CSV professionnel.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4251960"/>
            <a:ext cx="54864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251960"/>
            <a:ext cx="64008" cy="157276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0" y="48463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DAX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525780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CSV, Power Query, colonnes calculées, dashboards interactifs.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  ·  Python  ·  Pandas  ·  Power BI  ·  Data Engineering  ·  ETL Pipeline  ·  Mai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Data Engineering — YouTube API v3</dc:title>
  <dc:subject>PptxGenJS Presentation</dc:subject>
  <dc:creator>Data Engineering Project</dc:creator>
  <cp:lastModifiedBy>Data Engineering Project</cp:lastModifiedBy>
  <cp:revision>1</cp:revision>
  <dcterms:created xsi:type="dcterms:W3CDTF">2026-05-03T10:38:42Z</dcterms:created>
  <dcterms:modified xsi:type="dcterms:W3CDTF">2026-05-03T10:38:42Z</dcterms:modified>
</cp:coreProperties>
</file>